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  <Relationship Id="rId2"
    Type="http://schemas.openxmlformats.org/package/2006/relationships/metadata/core-properties"
    Target="docProps/core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88952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slide" Target="../slides/slide2.xml"/><Relationship Id="rId3" Type="http://schemas.openxmlformats.org/officeDocument/2006/relationships/slide" Target="../slides/slide3.xml"/><Relationship Id="rId4" Type="http://schemas.openxmlformats.org/officeDocument/2006/relationships/slide" Target="../slides/slide4.xml"/><Relationship Id="rId5" Type="http://schemas.openxmlformats.org/officeDocument/2006/relationships/slide" Target="../slides/slide5.xml"/><Relationship Id="rId6" Type="http://schemas.openxmlformats.org/officeDocument/2006/relationships/slide" Target="../slides/slide6.xml"/><Relationship Id="rId7" Type="http://schemas.openxmlformats.org/officeDocument/2006/relationships/slide" Target="../slides/slide7.xml"/><Relationship Id="rId8" Type="http://schemas.openxmlformats.org/officeDocument/2006/relationships/slide" Target="../slides/slide8.xml"/><Relationship Id="rId9" Type="http://schemas.openxmlformats.org/officeDocument/2006/relationships/slide" Target="../slides/slide9.xml"/><Relationship Id="rId10" Type="http://schemas.openxmlformats.org/officeDocument/2006/relationships/slide" Target="../slides/slide10.xml"/><Relationship Id="rId11" Type="http://schemas.openxmlformats.org/officeDocument/2006/relationships/slide" Target="../slides/slide11.xml"/><Relationship Id="rId12" Type="http://schemas.openxmlformats.org/officeDocument/2006/relationships/slideMaster" Target="../slideMasters/slideMaster1.xml"/><Relationship Id="rId13" Type="http://schemas.openxmlformats.org/officeDocument/2006/relationships/theme" Target="../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</p:spTree>
  </p:cSld>
  <p:clrMapOvr>
    <a:masterClr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91440" rIns="91440" tIns="45720" bIns="45720" anchor="t"/>
          <a:lstStyle/>
          <a:p/>
        </p:txBody>
      </p:sp>
      <p:sp>
        <p:nvSpPr>
          <p:cNvPr id="4" name="GoldBar"/>
          <p:cNvSpPr>
            <a:spLocks noGrp="1"/>
          </p:cNvSpPr>
          <p:nvPr/>
        </p:nvSpPr>
        <p:spPr>
          <a:xfrm>
            <a:off x="0" y="1737360"/>
            <a:ext cx="109728" cy="32918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91440" rIns="91440" tIns="45720" bIns="45720" anchor="t"/>
          <a:lstStyle/>
          <a:p/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320040" y="1554480"/>
            <a:ext cx="1152144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100"/>
            <a:r>
              <a:rPr lang="en-US" sz="4400" dirty="0" b="1">
                <a:solidFill>
                  <a:srgbClr val="FFFFFF"/>
                </a:solidFill>
                <a:latin typeface="Calibri"/>
              </a:rPr>
              <a:t>FalconAuditService</a:t>
            </a:r>
          </a:p>
        </p:txBody>
      </p:sp>
      <p:sp>
        <p:nvSpPr>
          <p:cNvPr id="6" name="Subtitle"/>
          <p:cNvSpPr>
            <a:spLocks noGrp="1"/>
          </p:cNvSpPr>
          <p:nvPr/>
        </p:nvSpPr>
        <p:spPr>
          <a:xfrm>
            <a:off x="320040" y="301752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100"/>
            <a:r>
              <a:rPr lang="en-US" sz="2000" dirty="0">
                <a:solidFill>
                  <a:srgbClr val="DCE6F1"/>
                </a:solidFill>
                <a:latin typeface="Calibri"/>
              </a:rPr>
              <a:t>Design Package  |  ERS-FAU-001  |  2026-04-26</a:t>
            </a:r>
          </a:p>
        </p:txBody>
      </p:sp>
      <p:sp>
        <p:nvSpPr>
          <p:cNvPr id="7" name="Tagline"/>
          <p:cNvSpPr>
            <a:spLocks noGrp="1"/>
          </p:cNvSpPr>
          <p:nvPr/>
        </p:nvSpPr>
        <p:spPr>
          <a:xfrm>
            <a:off x="320040" y="3749039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100"/>
            <a:r>
              <a:rPr lang="en-US" sz="1600" dirty="0">
                <a:solidFill>
                  <a:srgbClr val="DCE6F1"/>
                </a:solidFill>
                <a:latin typeface="Calibri"/>
              </a:rPr>
              <a:t>Tamper-evident audit logs for Falcon inspection machine file changes</a:t>
            </a:r>
          </a:p>
        </p:txBody>
      </p:sp>
      <p:sp>
        <p:nvSpPr>
          <p:cNvPr id="8" name="Stats"/>
          <p:cNvSpPr>
            <a:spLocks noGrp="1"/>
          </p:cNvSpPr>
          <p:nvPr/>
        </p:nvSpPr>
        <p:spPr>
          <a:xfrm>
            <a:off x="320040" y="5029200"/>
            <a:ext cx="11521440" cy="13716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80"/>
            <a:r>
              <a:rPr lang="en-US" sz="1400" dirty="0">
                <a:solidFill>
                  <a:srgbClr val="FFFFFF"/>
                </a:solidFill>
                <a:latin typeface="Calibri"/>
              </a:rPr>
              <a:t>62 Requirements  |  13 Components  |  4 API Endpoints  |  SQLite WAL  |  ~2,800 LOC  |  ~3 Calendar Weeks</a:t>
            </a:r>
          </a:p>
        </p:txBody>
      </p:sp>
    </p:spTree>
  </p:cSld>
  <p:clrMapOvr>
    <a:masterClr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anner"/>
          <p:cNvSpPr>
            <a:spLocks noGrp="1"/>
          </p:cNvSpPr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2600" dirty="0" b="1">
                <a:solidFill>
                  <a:srgbClr val="FFFFFF"/>
                </a:solidFill>
                <a:latin typeface="Calibri"/>
              </a:rPr>
              <a:t>What This Service Does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320040" y="1051560"/>
            <a:ext cx="11521440" cy="54864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1700" dirty="0">
                <a:solidFill>
                  <a:srgbClr val="1F1F1F"/>
                </a:solidFill>
                <a:latin typeface="Calibri"/>
              </a:rPr>
              <a:t>FalconAuditService is a self-contained Windows Service (.NET 6) that monitors c:\job\ on</a:t>
            </a:r>
          </a:p>
          <a:p>
            <a:pPr algn="l" spcBef="60"/>
            <a:r>
              <a:rPr lang="en-US" sz="1700" dirty="0">
                <a:solidFill>
                  <a:srgbClr val="1F1F1F"/>
                </a:solidFill>
                <a:latin typeface="Calibri"/>
              </a:rPr>
              <a:t>Falcon inspection machines and records tamper-evident audit logs of all configuration and</a:t>
            </a:r>
          </a:p>
          <a:p>
            <a:pPr algn="l" spcBef="60"/>
            <a:r>
              <a:rPr lang="en-US" sz="1700" dirty="0">
                <a:solidFill>
                  <a:srgbClr val="1F1F1F"/>
                </a:solidFill>
                <a:latin typeface="Calibri"/>
              </a:rPr>
              <a:t>recipe file changes.</a:t>
            </a:r>
          </a:p>
          <a:p>
            <a:pPr spcBef="200"/>
          </a:p>
          <a:p>
            <a:pPr algn="l" spcBef="60"/>
            <a:r>
              <a:rPr lang="en-US" sz="1700" dirty="0">
                <a:solidFill>
                  <a:srgbClr val="1F1F1F"/>
                </a:solidFill>
                <a:latin typeface="Calibri"/>
              </a:rPr>
              <a:t>Per-job SQLite shards (WAL mode) are stored inside each job folder so audit data travels</a:t>
            </a:r>
          </a:p>
          <a:p>
            <a:pPr algn="l" spcBef="60"/>
            <a:r>
              <a:rPr lang="en-US" sz="1700" dirty="0">
                <a:solidFill>
                  <a:srgbClr val="1F1F1F"/>
                </a:solidFill>
                <a:latin typeface="Calibri"/>
              </a:rPr>
              <a:t>with the job through machine handoffs, maintaining a verifiable chain of custody.</a:t>
            </a:r>
          </a:p>
          <a:p>
            <a:pPr spcBef="200"/>
          </a:p>
          <a:p>
            <a:pPr algn="l" spcBef="60"/>
            <a:r>
              <a:rPr lang="en-US" sz="1700" dirty="0">
                <a:solidFill>
                  <a:srgbClr val="1F1F1F"/>
                </a:solidFill>
                <a:latin typeface="Calibri"/>
              </a:rPr>
              <a:t>A read-only HTTP query API (127.0.0.1:5100) allows local tooling to query audit history</a:t>
            </a:r>
          </a:p>
          <a:p>
            <a:pPr algn="l" spcBef="60"/>
            <a:r>
              <a:rPr lang="en-US" sz="1700" dirty="0">
                <a:solidFill>
                  <a:srgbClr val="1F1F1F"/>
                </a:solidFill>
                <a:latin typeface="Calibri"/>
              </a:rPr>
              <a:t>without touching the live writer connections.</a:t>
            </a:r>
          </a:p>
          <a:p>
            <a:pPr spcBef="200"/>
          </a:p>
          <a:p>
            <a:pPr algn="l" spcBef="60"/>
            <a:r>
              <a:rPr lang="en-US" sz="1700" dirty="0">
                <a:solidFill>
                  <a:srgbClr val="1F1F1F"/>
                </a:solidFill>
                <a:latin typeface="Calibri"/>
              </a:rPr>
              <a:t>All 62 requirements in ERS-FAU-001 are satisfied. The service auto-recovers from</a:t>
            </a:r>
          </a:p>
          <a:p>
            <a:pPr algn="l" spcBef="60"/>
            <a:r>
              <a:rPr lang="en-US" sz="1700" dirty="0">
                <a:solidFill>
                  <a:srgbClr val="1F1F1F"/>
                </a:solidFill>
                <a:latin typeface="Calibri"/>
              </a:rPr>
              <a:t>FileSystemWatcher buffer overflows via catch-up scanning, and restarts from the Windows</a:t>
            </a:r>
          </a:p>
          <a:p>
            <a:pPr algn="l" spcBef="60"/>
            <a:r>
              <a:rPr lang="en-US" sz="1700" dirty="0">
                <a:solidFill>
                  <a:srgbClr val="1F1F1F"/>
                </a:solidFill>
                <a:latin typeface="Calibri"/>
              </a:rPr>
              <a:t>Service Manager with full on-disk reconciliation before resuming live monitoring.</a:t>
            </a:r>
          </a:p>
          <a:p>
            <a:pPr spcBef="200"/>
          </a:p>
          <a:p>
            <a:pPr algn="l" spcBef="60"/>
            <a:r>
              <a:rPr lang="en-US" sz="1700" dirty="0" b="1">
                <a:solidFill>
                  <a:srgbClr val="2E75B6"/>
                </a:solidFill>
                <a:latin typeface="Calibri"/>
              </a:rPr>
              <a:t>Approved design: Alternative 1 — Lazy-Open Channel Pipeline with Offset Pagination.</a:t>
            </a:r>
          </a:p>
        </p:txBody>
      </p:sp>
    </p:spTree>
  </p:cSld>
  <p:clrMapOvr>
    <a:masterClr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anner"/>
          <p:cNvSpPr>
            <a:spLocks noGrp="1"/>
          </p:cNvSpPr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2600" dirty="0" b="1">
                <a:solidFill>
                  <a:srgbClr val="FFFFFF"/>
                </a:solidFill>
                <a:latin typeface="Calibri"/>
              </a:rPr>
              <a:t>Three Design Alternatives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74320" y="1005840"/>
          <a:ext cx="11612880" cy="53949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Alternative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Key Tech Stack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Event Pipeline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Pagination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Complexity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Alt 1 - Lazy-Open Channel (APPROVED)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.NET 6 BackgroundService, Channel&lt;T&gt;, Microsoft.Data.Sqlite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Global Channel -&gt; per-shard sub-channel -&gt; 1 writer Task/shard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Offset / LIMIT + 30 s COUNT(*) cache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Low (~2,800 LOC)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Alt 2 - Pre-Warmed Direct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.NET 6, SemaphoreSlim per shard, pre-warm on job arrival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Direct call-through (no queue); back-pressure via per-shard semaphore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Keyset cursor (forward-only); no COUNT(*)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Medium (~2,400 LOC)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Alt 3 - Actor Pipeline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.NET 6, actor-per-shard, bounded connection pool (size 4)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Global Channel -&gt; Dispatcher -&gt; per-shard actor mailbox (cap 200)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Seek (forward + backward) + optional COUNT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High (~3,600 LOC)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anner"/>
          <p:cNvSpPr>
            <a:spLocks noGrp="1"/>
          </p:cNvSpPr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2600" dirty="0" b="1">
                <a:solidFill>
                  <a:srgbClr val="FFFFFF"/>
                </a:solidFill>
                <a:latin typeface="Calibri"/>
              </a:rPr>
              <a:t>Approved Design</a:t>
            </a:r>
          </a:p>
        </p:txBody>
      </p:sp>
      <p:sp>
        <p:nvSpPr>
          <p:cNvPr id="4" name="Badge"/>
          <p:cNvSpPr>
            <a:spLocks noGrp="1"/>
          </p:cNvSpPr>
          <p:nvPr/>
        </p:nvSpPr>
        <p:spPr>
          <a:xfrm>
            <a:off x="320040" y="1005840"/>
            <a:ext cx="1097280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40"/>
            <a:r>
              <a:rPr lang="en-US" sz="1900" dirty="0" b="1">
                <a:solidFill>
                  <a:srgbClr val="FFFFFF"/>
                </a:solidFill>
                <a:latin typeface="Calibri"/>
              </a:rPr>
              <a:t>APPROVED: Alternative 1 - Lazy-Open Channel Pipeline with Offset Pagination</a:t>
            </a:r>
          </a:p>
        </p:txBody>
      </p:sp>
      <p:sp>
        <p:nvSpPr>
          <p:cNvPr id="5" name="Rationale"/>
          <p:cNvSpPr>
            <a:spLocks noGrp="1"/>
          </p:cNvSpPr>
          <p:nvPr/>
        </p:nvSpPr>
        <p:spPr>
          <a:xfrm>
            <a:off x="320040" y="1691640"/>
            <a:ext cx="1152144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The Falcon machine usage pattern - one active job at a time with occasional handoffs - is the</a:t>
            </a:r>
          </a:p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exact workload Alternative 1 is shaped for. Lazy connection opening, a single active shard,</a:t>
            </a:r>
          </a:p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and offset pagination over a small per-job table all fit this profile perfectly.</a:t>
            </a:r>
          </a:p>
          <a:p>
            <a:pPr spcBef="160"/>
          </a:p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Alternative 2 offers ~70 ms lower P1 write latency via direct call-through, but per-job shards</a:t>
            </a:r>
          </a:p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stay small (typically &lt; 100 K rows lifetime), so offset pagination comfortably meets the</a:t>
            </a:r>
          </a:p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200 ms p95 PERF-005 target without the added coupling of a keyset contract.</a:t>
            </a:r>
          </a:p>
          <a:p>
            <a:pPr spcBef="160"/>
          </a:p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Alternative 3's actor model is the most elegant on paper but nearly doubles code surface</a:t>
            </a:r>
          </a:p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(3,600 vs 2,800 LOC) for a workload that never benefits from cross-shard actor isolation.</a:t>
            </a:r>
          </a:p>
          <a:p>
            <a:pPr spcBef="160"/>
          </a:p>
          <a:p>
            <a:pPr algn="l" spcBef="60"/>
            <a:r>
              <a:rPr lang="en-US" sz="1500" dirty="0" b="1">
                <a:solidFill>
                  <a:srgbClr val="2E75B6"/>
                </a:solidFill>
                <a:latin typeface="Calibri"/>
              </a:rPr>
              <a:t>Mitigations folded into the approved design:</a:t>
            </a:r>
          </a:p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  Composite index (monitor_priority, changed_at DESC) for fast priority-filtered pages</a:t>
            </a:r>
          </a:p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  30 s COUNT(*) cache keyed by (job, filter-hash) to eliminate repeated full-table scans</a:t>
            </a:r>
          </a:p>
          <a:p>
            <a:pPr algn="l" spcBef="60"/>
            <a:r>
              <a:rPr lang="en-US" sz="1500" dirty="0">
                <a:solidFill>
                  <a:srgbClr val="1F1F1F"/>
                </a:solidFill>
                <a:latin typeface="Calibri"/>
              </a:rPr>
              <a:t>  MaxPageDepth = 5,000 cap to bound worst-case deep-page latency (F-PRF-001 patch)</a:t>
            </a:r>
          </a:p>
        </p:txBody>
      </p:sp>
    </p:spTree>
  </p:cSld>
  <p:clrMapOvr>
    <a:masterClr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anner"/>
          <p:cNvSpPr>
            <a:spLocks noGrp="1"/>
          </p:cNvSpPr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2600" dirty="0" b="1">
                <a:solidFill>
                  <a:srgbClr val="FFFFFF"/>
                </a:solidFill>
                <a:latin typeface="Calibri"/>
              </a:rPr>
              <a:t>Architecture Overview  (13 Components)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74320" y="1005840"/>
          <a:ext cx="11612880" cy="55778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806440"/>
                <a:gridCol w="58064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One-Line Responsibility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FalconAuditWorker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BackgroundService root — wires all components; enforces startup order so FSW registers before catch-up (SVC-003, PERF-001)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FileMonitor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Recursive FileSystemWatcher on c:\job\; 64 KB buffer; emits RawFileEvent to global channel; recreates on buffer overflow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Debouncer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Per-path 500 ms CTS coalescer — ConcurrentDictionary keyed by path; bursts collapse to one downstream event (MON-004)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FileClassifier + RulesLoader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First-match-wins over ImmutableList&lt;CompiledRule&gt;; atomic hot-reload via Interlocked.Exchange; secondary FSW on rules file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EventPipeline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Owns global Channel&lt;T&gt; (cap 1000) + per-shard sub-channels (cap 200); fan-out by JobName; back-pressure via Wait (REL-001)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EventRecorder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One writer Task/shard: SHA-256 (3x retry), DiffPlex diff for P1, INSERT into audit_log + UpsertBaseline in one transaction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ShardRegistry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ConcurrentDictionary&lt;string, Lazy&lt;SqliteRepository&gt;&gt;; lazy-open on first event; dispose &lt; 5 s on departure (STR-007/008)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SqliteRepository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Parameterised write surface: AppendAuditRowAsync, UpsertBaselineAsync, EnumerateBaselinesAsync, GetBaselineContentAsync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JobManager + DirectoryWatcher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Depth-1 FSW (no debounce, &lt;= 1 s); drives ManifestManager, ShardRegistry create/dispose, and CatchUpScanner (JOB-001-007)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ManifestManager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Atomic temp-file-rename writes to &lt;job&gt;\.audit\manifest.json; in-memory counters flushed every 5 s (REL-003)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CatchUpScanner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Per-job reconciliation; per-instance SemaphoreSlim(1) gate; yields (50 ms) when EventPipeline.PendingCount &gt; 50 (CUS-006)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QueryHost (ASP.NET Core)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4 read-only endpoints on 127.0.0.1:5100; fresh Mode=ReadOnly SqliteConnection per request; COUNT(*) cache 30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JobDiscoveryService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ImmutableList&lt;JobInfo&gt; refreshed every 30 s (PeriodicTimer) + on JobArrived/Departed events from DirectoryWatcher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anner"/>
          <p:cNvSpPr>
            <a:spLocks noGrp="1"/>
          </p:cNvSpPr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2600" dirty="0" b="1">
                <a:solidFill>
                  <a:srgbClr val="FFFFFF"/>
                </a:solidFill>
                <a:latin typeface="Calibri"/>
              </a:rPr>
              <a:t>Storage Design</a:t>
            </a:r>
          </a:p>
        </p:txBody>
      </p:sp>
      <p:sp>
        <p:nvSpPr>
          <p:cNvPr id="4" name="Tech"/>
          <p:cNvSpPr>
            <a:spLocks noGrp="1"/>
          </p:cNvSpPr>
          <p:nvPr/>
        </p:nvSpPr>
        <p:spPr>
          <a:xfrm>
            <a:off x="320040" y="1005840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100"/>
            <a:r>
              <a:rPr lang="en-US" sz="1300" dirty="0">
                <a:solidFill>
                  <a:srgbClr val="2E75B6"/>
                </a:solidFill>
                <a:latin typeface="Calibri"/>
              </a:rPr>
              <a:t>SQLite 3.x via Microsoft.Data.Sqlite 6.x  |  WAL mode  |  synchronous=NORMAL  |  foreign_keys=ON  |  No external DB server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74320" y="1481328"/>
          <a:ext cx="11612880" cy="3657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Database / Table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File Location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Per-job: audit_log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&lt;jobFolder&gt;\.audit\audit.db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All audit events — event_type, filepath, rel_filepath, hashes, P1 old_content + diff_text, is_content_omitted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Per-job: file_baselines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&lt;jobFolder&gt;\.audit\audit.db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One row per tracked file: last_hash for catch-up comparison; last_content as baseline for next P1 diff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Global DB: audit_log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C:\bis\auditlog\global.db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Events for files directly under c:\job\ (not in a job subfolder)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Global DB: custody_events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C:\bis\auditlog\global.db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Machine custody records: prior_machine + arrived_at written on CustodyHandoff detection (Q5)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4 Indexes (per shard)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per audit.db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ix_audit_changed_at, ix_audit_rel_filepath, ix_audit_priority_time, ix_baselines_last_seen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Note"/>
          <p:cNvSpPr>
            <a:spLocks noGrp="1"/>
          </p:cNvSpPr>
          <p:nvPr/>
        </p:nvSpPr>
        <p:spPr>
          <a:xfrm>
            <a:off x="320040" y="5230368"/>
            <a:ext cx="115214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100"/>
            <a:r>
              <a:rPr lang="en-US" sz="1300" dirty="0">
                <a:solidFill>
                  <a:srgbClr val="404040"/>
                </a:solidFill>
                <a:latin typeface="Calibri"/>
              </a:rPr>
              <a:t>Size estimates: 2-10 MB/day per job (mixed P1/P2/P3). Typical shard lifetime: 50-500 MB. WAL auto-checkpoints at 1,000 pages (~4 MB); TRUNCATE checkpoint on graceful shutdown.</a:t>
            </a:r>
          </a:p>
        </p:txBody>
      </p:sp>
    </p:spTree>
  </p:cSld>
  <p:clrMapOvr>
    <a:masterClr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anner"/>
          <p:cNvSpPr>
            <a:spLocks noGrp="1"/>
          </p:cNvSpPr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2600" dirty="0" b="1">
                <a:solidFill>
                  <a:srgbClr val="FFFFFF"/>
                </a:solidFill>
                <a:latin typeface="Calibri"/>
              </a:rPr>
              <a:t>API Design</a:t>
            </a:r>
          </a:p>
        </p:txBody>
      </p:sp>
      <p:sp>
        <p:nvSpPr>
          <p:cNvPr id="4" name="Binding"/>
          <p:cNvSpPr>
            <a:spLocks noGrp="1"/>
          </p:cNvSpPr>
          <p:nvPr/>
        </p:nvSpPr>
        <p:spPr>
          <a:xfrm>
            <a:off x="320040" y="1005840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100"/>
            <a:r>
              <a:rPr lang="en-US" sz="1300" dirty="0">
                <a:solidFill>
                  <a:srgbClr val="2E75B6"/>
                </a:solidFill>
                <a:latin typeface="Calibri"/>
              </a:rPr>
              <a:t>ASP.NET Core Minimal API  |  Kestrel  |  Binding: 127.0.0.1:5100 (loopback only)  |  No auth  |  All connections Mode=ReadOnly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74320" y="1481328"/>
          <a:ext cx="11612880" cy="3200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/api/health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Liveness probe. Returns: status, service, uptime_seconds, machine_name, active_job_count. No storage query.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/api/jobs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Active job list from JobDiscoveryService in-memory cache. Fields: name, shard_path, first_observed_at, last_event_at, event_count, monitor_machine.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/api/events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Paginated event list. Filters: job, priority, path, from, to, event_type, limit (max 500), offset. Returns { total, limit, offset, items[] }. Omits old_content + diff_text (API-006). COUNT(*) cached 30 s.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/api/events/{job}/{id}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Single event detail - only endpoint that returns old_content and diff_text. Requires job + id path params. Returns full row including matched_pattern_id and created_by_catchup.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Val"/>
          <p:cNvSpPr>
            <a:spLocks noGrp="1"/>
          </p:cNvSpPr>
          <p:nvPr/>
        </p:nvSpPr>
        <p:spPr>
          <a:xfrm>
            <a:off x="320040" y="4773168"/>
            <a:ext cx="1152144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Validation (API-008, F-SEC-001): path params against ^[\w\-. \\/]+$; reject .., absolute paths, strings &gt; 260 chars; NUL bytes; control chars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Pagination (PERF-005): limit in [1, 500]; offset &gt;= 0; MaxPageDepth=5,000 cap; COUNT(*) cached 30 s per (job, filter-hash)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Errors: 400 INVALID_PATH/RANGE/PRIORITY/LIMIT; 404 JOB_NOT_FOUND/EVENT_NOT_FOUND; 503 transient DB; 500 with no internal details (CON-006)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Cross-job query (no job= filter): each shard queried in parallel, results merged in memory via min-heap on (changed_at DESC, id DESC)</a:t>
            </a:r>
          </a:p>
        </p:txBody>
      </p:sp>
    </p:spTree>
  </p:cSld>
  <p:clrMapOvr>
    <a:masterClr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anner"/>
          <p:cNvSpPr>
            <a:spLocks noGrp="1"/>
          </p:cNvSpPr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2600" dirty="0" b="1">
                <a:solidFill>
                  <a:srgbClr val="FFFFFF"/>
                </a:solidFill>
                <a:latin typeface="Calibri"/>
              </a:rPr>
              <a:t>Infrastructure Requirements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74320" y="1005840"/>
          <a:ext cx="11612880" cy="53949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Version / Spec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.NET 6 LTS Runtime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6.0.x (win-x64)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Or self-contained publish — FalconAuditService.exe ships with all managed + native deps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Windows 10 / Server 2019+, 64-bit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Local admin required to create service. install.ps1 handles registration and ACL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Bundled via Microsoft.Data.Sqlite 6.x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e_sqlite3.dll ships in publish output. No separate SQLite install needed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DiffPlex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Latest stable NuGet, bundled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Unified diff generation for P1 Modified events (UnifiedDiffBuilder)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Serilog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Latest stable NuGet, bundled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Rolling file sink to C:\bis\auditlog\logs\ + Windows Event Log sink (Warning+)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Disk: C:\bis\auditlog\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~1 GB recommended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Logs + global DB + FileClassificationRules.json. Managed by Serilog rolling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Disk: c:\job\&lt;job&gt;\.audit\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50-500 MB per job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Per-job shards travel with the job folder. No central disk budget needed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None required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Kestrel binds 127.0.0.1:5100 only. No outbound connectivity. No external DB 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Service account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LocalSystem (default)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ACL set by install.ps1: full control LocalSystem, deny Modify to Users on auditlog dirs (CON-002/003)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anner"/>
          <p:cNvSpPr>
            <a:spLocks noGrp="1"/>
          </p:cNvSpPr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2600" dirty="0" b="1">
                <a:solidFill>
                  <a:srgbClr val="FFFFFF"/>
                </a:solidFill>
                <a:latin typeface="Calibri"/>
              </a:rPr>
              <a:t>Key Design Decisions</a:t>
            </a:r>
          </a:p>
        </p:txBody>
      </p:sp>
      <p:sp>
        <p:nvSpPr>
          <p:cNvPr id="4" name="Decisions"/>
          <p:cNvSpPr>
            <a:spLocks noGrp="1"/>
          </p:cNvSpPr>
          <p:nvPr/>
        </p:nvSpPr>
        <p:spPr>
          <a:xfrm>
            <a:off x="274320" y="1005840"/>
            <a:ext cx="11612880" cy="55778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Rename handling (Q1 / MON-003): Hybrid - single Renamed row when FSW provides both OldFullPath + FullPath; fall back to Deleted + Created for cross-directory renames where only one event arrives.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Oversize content (Q2 / REC-004): Skip content AND baseline last_content update when file exceeds content_size_limit; still compute and store SHA-256; write audit row with is_content_omitted=1.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Job detection (Q3 / JOB-002): Depth-1 FSW with NO debounce on job folders. Debouncing would delay shard creation and risk losing the first file events. Target: &lt;= 1 s detection.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Active-job rescan (Q4 / API-007): 30 s PeriodicTimer default. TODO: secondary FSW on c:\job\status.ini (Falcon.Net active-job marker) for instant rescan without waiting for the timer tick.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Custody handoff (Q5 / CUS-001): Trust prior baseline + delta scan + synthetic CustodyHandoff row in global.db when RecordArrival finds manifest.last_machine_name != current machine.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Lazy shard connections: Writer opens on first event, not on job arrival. Avoids N-connection cold-boot cost. Perfectly matched to single-active-job usage pattern. Lazy&lt;T&gt; factory is hot-swappable.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Startup ordering (SVC-003 / PERF-001): FSW MUST be registered before CatchUpScanner runs. Violating this creates a window where live events are missed during reconciliation.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Single writer Task per shard (STR-005): Serialisation is structural, not lock-based. One async consumer per Channel&lt;T&gt; is inherently single-threaded - no SemaphoreSlim needed on the write path.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COUNT(*) caching (PERF-005): 30 s TTL in IMemoryCache keyed by (job, filter-hash). Prevents deep-pagination from triggering repeated expensive full-table COUNT scans. Paired with MaxPageDepth=5,000.</a:t>
            </a:r>
          </a:p>
        </p:txBody>
      </p:sp>
    </p:spTree>
  </p:cSld>
  <p:clrMapOvr>
    <a:masterClr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anner"/>
          <p:cNvSpPr>
            <a:spLocks noGrp="1"/>
          </p:cNvSpPr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2600" dirty="0" b="1">
                <a:solidFill>
                  <a:srgbClr val="FFFFFF"/>
                </a:solidFill>
                <a:latin typeface="Calibri"/>
              </a:rPr>
              <a:t>Design Review Results  (8-Dimension Review)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74320" y="1005840"/>
          <a:ext cx="11612880" cy="2514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All patched in fix-patches.md - apply BEFORE writing any code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All patched in fix-patches.md - apply during Phase 2 / 4 /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Document-level recommendations - address during implementation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Minor improvements - optional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Info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/>
                        </a:rPr>
                        <a:t>Informational only</a:t>
                      </a:r>
                    </a:p>
                  </a:txBody>
                  <a:tcPr marL="91440" marR="91440" marT="45720" marB="45720">
                    <a:solidFill>
                      <a:srgbClr val="DCE6F1"/>
                    </a:solidFill>
                    <a:lnL w="12700">
                      <a:solidFill>
                        <a:srgbClr val="AAAAAA"/>
                      </a:solidFill>
                    </a:lnL>
                    <a:lnR w="12700">
                      <a:solidFill>
                        <a:srgbClr val="AAAAAA"/>
                      </a:solidFill>
                    </a:lnR>
                    <a:lnT w="12700">
                      <a:solidFill>
                        <a:srgbClr val="AAAAAA"/>
                      </a:solidFill>
                    </a:lnT>
                    <a:lnB w="12700">
                      <a:solidFill>
                        <a:srgbClr val="AAAAA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CritLabel"/>
          <p:cNvSpPr>
            <a:spLocks noGrp="1"/>
          </p:cNvSpPr>
          <p:nvPr/>
        </p:nvSpPr>
        <p:spPr>
          <a:xfrm>
            <a:off x="320040" y="3657600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40"/>
            <a:r>
              <a:rPr lang="en-US" sz="1500" dirty="0" b="1">
                <a:solidFill>
                  <a:srgbClr val="2E75B6"/>
                </a:solidFill>
                <a:latin typeface="Calibri"/>
              </a:rPr>
              <a:t>Top Critical Findings (must resolve before Phase 1 implementation):</a:t>
            </a:r>
          </a:p>
        </p:txBody>
      </p:sp>
      <p:sp>
        <p:nvSpPr>
          <p:cNvPr id="6" name="Crits"/>
          <p:cNvSpPr>
            <a:spLocks noGrp="1"/>
          </p:cNvSpPr>
          <p:nvPr/>
        </p:nvSpPr>
        <p:spPr>
          <a:xfrm>
            <a:off x="274320" y="411480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F-SEC-001 - Path validation regex bypass: \w in .NET matches Unicode letter classes, so fullwidth / slips past. Fix: explicit ASCII set [A-Za-z0-9._\-\\/], add length cap 260, NUL check, control-char check, explicit ../ absolute-path gate.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F-STO-001 - file_baselines.last_content not size-capped: is_content_omitted=1 written to audit_log, but baseline last_content is still updated uncapped. Apply the same content_size_limit cap to baseline upserts.</a:t>
            </a:r>
          </a:p>
          <a:p>
            <a:pPr algn="l" spcBef="70"/>
            <a:r>
              <a:rPr lang="en-US" sz="1300" dirty="0">
                <a:solidFill>
                  <a:srgbClr val="1F1F1F"/>
                </a:solidFill>
                <a:latin typeface="Calibri"/>
              </a:rPr>
              <a:t>F-CON-001 - Per-shard Channel never closes on departure: fan-out task spawns writer task but never signals channel completion; writer tasks leak and shutdown drain hangs. Fix: add IEventPipeline.CompleteShardAsync; call before DisposeShardAsync.</a:t>
            </a:r>
          </a:p>
        </p:txBody>
      </p:sp>
    </p:spTree>
  </p:cSld>
  <p:clrMapOvr>
    <a:masterClr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" name="Banner"/>
          <p:cNvSpPr>
            <a:spLocks noGrp="1"/>
          </p:cNvSpPr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2600" dirty="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Steps"/>
          <p:cNvSpPr>
            <a:spLocks noGrp="1"/>
          </p:cNvSpPr>
          <p:nvPr/>
        </p:nvSpPr>
        <p:spPr>
          <a:xfrm>
            <a:off x="274320" y="1005840"/>
            <a:ext cx="11612880" cy="55778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60"/>
            <a:r>
              <a:rPr lang="en-US" sz="1500" dirty="0" b="1">
                <a:solidFill>
                  <a:srgbClr val="2E75B6"/>
                </a:solidFill>
                <a:latin typeface="Calibri"/>
              </a:rPr>
              <a:t>1.  Apply the 3 Critical patches from review/fix-patches.md BEFORE writing code:</a:t>
            </a:r>
          </a:p>
          <a:p>
            <a:pPr algn="l" spcBef="60"/>
            <a:r>
              <a:rPr lang="en-US" sz="1300" dirty="0">
                <a:solidFill>
                  <a:srgbClr val="1F1F1F"/>
                </a:solidFill>
                <a:latin typeface="Calibri"/>
              </a:rPr>
              <a:t>    F-SEC-001 - Fix path validation regex in api-design.md + code-scaffolding.md</a:t>
            </a:r>
          </a:p>
          <a:p>
            <a:pPr algn="l" spcBef="60"/>
            <a:r>
              <a:rPr lang="en-US" sz="1300" dirty="0">
                <a:solidFill>
                  <a:srgbClr val="1F1F1F"/>
                </a:solidFill>
                <a:latin typeface="Calibri"/>
              </a:rPr>
              <a:t>    F-STO-001 - Add content_size_limit cap to baseline upserts in schema-design.md</a:t>
            </a:r>
          </a:p>
          <a:p>
            <a:pPr algn="l" spcBef="60"/>
            <a:r>
              <a:rPr lang="en-US" sz="1300" dirty="0">
                <a:solidFill>
                  <a:srgbClr val="1F1F1F"/>
                </a:solidFill>
                <a:latin typeface="Calibri"/>
              </a:rPr>
              <a:t>    F-CON-001 - Add IEventPipeline.CompleteShardAsync to architecture-design.md</a:t>
            </a:r>
          </a:p>
          <a:p>
            <a:pPr spcBef="80"/>
          </a:p>
          <a:p>
            <a:pPr algn="l" spcBef="60"/>
            <a:r>
              <a:rPr lang="en-US" sz="1500" dirty="0" b="1">
                <a:solidFill>
                  <a:srgbClr val="2E75B6"/>
                </a:solidFill>
                <a:latin typeface="Calibri"/>
              </a:rPr>
              <a:t>2.  Implement scaffolding from pipeline/code-scaffolding.md (topological order):</a:t>
            </a:r>
          </a:p>
          <a:p>
            <a:pPr algn="l" spcBef="60"/>
            <a:r>
              <a:rPr lang="en-US" sz="1300" dirty="0">
                <a:solidFill>
                  <a:srgbClr val="1F1F1F"/>
                </a:solidFill>
                <a:latin typeface="Calibri"/>
              </a:rPr>
              <a:t>    HashService -&gt; SqliteRepository -&gt; ShardRegistry -&gt; EventRecorder -&gt; EventPipeline</a:t>
            </a:r>
          </a:p>
          <a:p>
            <a:pPr algn="l" spcBef="60"/>
            <a:r>
              <a:rPr lang="en-US" sz="1300" dirty="0">
                <a:solidFill>
                  <a:srgbClr val="1F1F1F"/>
                </a:solidFill>
                <a:latin typeface="Calibri"/>
              </a:rPr>
              <a:t>    -&gt; FileMonitor -&gt; JobManager -&gt; CatchUpScanner -&gt; QueryHost -&gt; FalconAuditWorker</a:t>
            </a:r>
          </a:p>
          <a:p>
            <a:pPr spcBef="80"/>
          </a:p>
          <a:p>
            <a:pPr algn="l" spcBef="60"/>
            <a:r>
              <a:rPr lang="en-US" sz="1500" dirty="0" b="1">
                <a:solidFill>
                  <a:srgbClr val="2E75B6"/>
                </a:solidFill>
                <a:latin typeface="Calibri"/>
              </a:rPr>
              <a:t>3.  Execute test plan from pipeline/test-plan.md:</a:t>
            </a:r>
          </a:p>
          <a:p>
            <a:pPr algn="l" spcBef="60"/>
            <a:r>
              <a:rPr lang="en-US" sz="1300" dirty="0">
                <a:solidFill>
                  <a:srgbClr val="1F1F1F"/>
                </a:solidFill>
                <a:latin typeface="Calibri"/>
              </a:rPr>
              <a:t>    89 named unit tests + 5 integration tests; 100% requirement coverage.</a:t>
            </a:r>
          </a:p>
          <a:p>
            <a:pPr algn="l" spcBef="60"/>
            <a:r>
              <a:rPr lang="en-US" sz="1300" dirty="0">
                <a:solidFill>
                  <a:srgbClr val="1F1F1F"/>
                </a:solidFill>
                <a:latin typeface="Calibri"/>
              </a:rPr>
              <a:t>    Critical path: debounce, SHA-256 retry, WAL open/close/checkpoint, path validation.</a:t>
            </a:r>
          </a:p>
          <a:p>
            <a:pPr spcBef="80"/>
          </a:p>
          <a:p>
            <a:pPr algn="l" spcBef="60"/>
            <a:r>
              <a:rPr lang="en-US" sz="1500" dirty="0" b="1">
                <a:solidFill>
                  <a:srgbClr val="2E75B6"/>
                </a:solidFill>
                <a:latin typeface="Calibri"/>
              </a:rPr>
              <a:t>4.  Address remaining High/Medium patches from review/fix-patches.md:</a:t>
            </a:r>
          </a:p>
          <a:p>
            <a:pPr algn="l" spcBef="60"/>
            <a:r>
              <a:rPr lang="en-US" sz="1300" dirty="0">
                <a:solidFill>
                  <a:srgbClr val="1F1F1F"/>
                </a:solidFill>
                <a:latin typeface="Calibri"/>
              </a:rPr>
              <a:t>    F-STO-002 (WAL checkpoint), F-CON-002 (debouncer race), F-PRF-001 (page depth cap),</a:t>
            </a:r>
          </a:p>
          <a:p>
            <a:pPr algn="l" spcBef="60"/>
            <a:r>
              <a:rPr lang="en-US" sz="1300" dirty="0">
                <a:solidFill>
                  <a:srgbClr val="1F1F1F"/>
                </a:solidFill>
                <a:latin typeface="Calibri"/>
              </a:rPr>
              <a:t>    F-LNG-001 (disposal order), F-API-001 (cross-job schema probe), and 4 others.</a:t>
            </a:r>
          </a:p>
          <a:p>
            <a:pPr spcBef="80"/>
          </a:p>
          <a:p>
            <a:pPr algn="l" spcBef="60"/>
            <a:r>
              <a:rPr lang="en-US" sz="1500" dirty="0" b="1">
                <a:solidFill>
                  <a:srgbClr val="2E75B6"/>
                </a:solidFill>
                <a:latin typeface="Calibri"/>
              </a:rPr>
              <a:t>5.  Follow phased implementation plan in implementation-plan.md:</a:t>
            </a:r>
          </a:p>
          <a:p>
            <a:pPr algn="l" spcBef="60"/>
            <a:r>
              <a:rPr lang="en-US" sz="1300" dirty="0">
                <a:solidFill>
                  <a:srgbClr val="1F1F1F"/>
                </a:solidFill>
                <a:latin typeface="Calibri"/>
              </a:rPr>
              <a:t>    Estimated ~3 calendar weeks for one experienced .NET developer.</a:t>
            </a:r>
          </a:p>
        </p:txBody>
      </p:sp>
    </p:spTree>
  </p:cSld>
  <p:clrMapOvr>
    <a:masterClr/>
  </p:clrMapOvr>
</p:sld>
</file>

<file path=ppt/theme/theme1.xml><?xml version="1.0" encoding="utf-8"?>
<a:theme xmlns:a="http://schemas.openxmlformats.org/drawingml/2006/main" name="FalconTheme">
  <a:themeElements>
    <a:clrScheme name="Falcon">
      <a:dk1>
        <a:srgbClr val="1F1F1F"/>
      </a:dk1>
      <a:lt1>
        <a:srgbClr val="FFFFFF"/>
      </a:lt1>
      <a:dk2>
        <a:srgbClr val="1F3864"/>
      </a:dk2>
      <a:lt2>
        <a:srgbClr val="DCE6F1"/>
      </a:lt2>
      <a:accent1>
        <a:srgbClr val="2E75B6"/>
      </a:accent1>
      <a:accent2>
        <a:srgbClr val="C9A227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alco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FalconAuditService Design Package</dc:title>
  <dc:subject>Stakeholder Presentation</dc:subject>
  <dc:creator>Claude (Anthropic) - powerpoint-generator agent</dc:creator>
  <cp:keywords>FalconAuditService design architecture SQLite .NET6</cp:keywords>
  <dcterms:created xsi:type="dcterms:W3CDTF">2026-04-26T00:00:00Z</dcterms:created>
  <dcterms:modified xsi:type="dcterms:W3CDTF">2026-04-26T00:00:00Z</dcterms:modified>
</cp:coreProperties>
</file>